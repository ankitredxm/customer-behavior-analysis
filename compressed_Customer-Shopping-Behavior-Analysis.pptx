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erriweather"/>
      <p:regular r:id="rId17"/>
    </p:embeddedFont>
    <p:embeddedFont>
      <p:font typeface="Merriweather"/>
      <p:regular r:id="rId18"/>
    </p:embeddedFont>
    <p:embeddedFont>
      <p:font typeface="Merriweather"/>
      <p:regular r:id="rId19"/>
    </p:embeddedFont>
    <p:embeddedFont>
      <p:font typeface="Merriweather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Uncovering insights from 3,900 purchases to drive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800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Dataset at a Glance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33757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3465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955971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Transactions analyzed across all categories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2433757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18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3465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Points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3955971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Features tracked per customer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2433757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25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3465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Product Types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3955971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Items purchased across categories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2433757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50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3465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3955971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Geographic coverage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1637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Customer Data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3790" y="574488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Age, Gender, Location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61870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Subscription Status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662928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Purchase History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99521" y="51637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Transaction Details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99521" y="574488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Product, Category, Amount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599521" y="61870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Season, Size, Color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99521" y="662928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Discounts &amp; Promos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70798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Preparation Journey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40593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014901"/>
            <a:ext cx="3871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Loading &amp; Exploration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dataset using pandas, analyzed structure with df.info() and summary statistics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840593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014901"/>
            <a:ext cx="32269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Imputed 37 missing Review Rating values using median rating per product category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2840593"/>
            <a:ext cx="4196358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014901"/>
            <a:ext cx="28633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age_group bins and purchase_frequency_days columns for deeper analysis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 Consistency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Standardized columns to snake_case, removed redundant promo_code_used field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29390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Connected to PostgreSQL and loaded cleaned data for SQL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78263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Revenue Insights by Gender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17488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D1200"/>
          </a:solidFill>
          <a:ln/>
        </p:spPr>
      </p:sp>
      <p:sp>
        <p:nvSpPr>
          <p:cNvPr id="5" name="Text 2"/>
          <p:cNvSpPr/>
          <p:nvPr/>
        </p:nvSpPr>
        <p:spPr>
          <a:xfrm>
            <a:off x="4005262" y="6541651"/>
            <a:ext cx="51446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FF430A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647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4885015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Male customers drive </a:t>
            </a:r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AD94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68%</a:t>
            </a:r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 of total revenue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8959096" y="3559135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shoppers generated $157,890 compared to $75,191 from female customers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711" y="746165"/>
            <a:ext cx="12238196" cy="658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Smart Spenders: Discount Users Above Average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1545908" y="3196590"/>
            <a:ext cx="2592824" cy="526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839</a:t>
            </a:r>
            <a:endParaRPr lang="en-US" sz="4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348" y="1879044"/>
            <a:ext cx="3162062" cy="31620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8472" y="5304473"/>
            <a:ext cx="3467695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High-Value Discount Users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737711" y="5760244"/>
            <a:ext cx="4209336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 who used discounts but spent above average purchase amount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018728" y="3196590"/>
            <a:ext cx="2592824" cy="526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$60</a:t>
            </a:r>
            <a:endParaRPr lang="en-US" sz="4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169" y="1879044"/>
            <a:ext cx="3162062" cy="31620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97654" y="5304473"/>
            <a:ext cx="2634972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Average Purchase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5210532" y="5760244"/>
            <a:ext cx="4209336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Baseline spending threshold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0491549" y="3196590"/>
            <a:ext cx="2592824" cy="526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4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21.5%</a:t>
            </a:r>
            <a:endParaRPr lang="en-US" sz="4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990" y="1879044"/>
            <a:ext cx="3162062" cy="31620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70475" y="5304473"/>
            <a:ext cx="2634972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Customer Share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9683353" y="5760244"/>
            <a:ext cx="4209336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Portion of total customer base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053822" y="6908959"/>
            <a:ext cx="12838867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savvy shoppers prove that discounts can drive volume without sacrificing transaction value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737711" y="6671905"/>
            <a:ext cx="22860" cy="811411"/>
          </a:xfrm>
          <a:prstGeom prst="rect">
            <a:avLst/>
          </a:prstGeom>
          <a:solidFill>
            <a:srgbClr val="FFAD9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7334" y="453628"/>
            <a:ext cx="6033492" cy="515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Product Performance Leaders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7334" y="1381482"/>
            <a:ext cx="2474476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Top Rated Products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77334" y="1958578"/>
            <a:ext cx="5952530" cy="206097"/>
          </a:xfrm>
          <a:prstGeom prst="roundRect">
            <a:avLst>
              <a:gd name="adj" fmla="val 33618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7334" y="1958578"/>
            <a:ext cx="5773936" cy="206097"/>
          </a:xfrm>
          <a:prstGeom prst="roundRect">
            <a:avLst>
              <a:gd name="adj" fmla="val 33618"/>
            </a:avLst>
          </a:prstGeom>
          <a:solidFill>
            <a:srgbClr val="FFAD94"/>
          </a:solidFill>
          <a:ln/>
        </p:spPr>
      </p:sp>
      <p:sp>
        <p:nvSpPr>
          <p:cNvPr id="6" name="Text 4"/>
          <p:cNvSpPr/>
          <p:nvPr/>
        </p:nvSpPr>
        <p:spPr>
          <a:xfrm>
            <a:off x="6653570" y="1958578"/>
            <a:ext cx="460415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97%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7334" y="2370773"/>
            <a:ext cx="206204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Gloves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7334" y="2793444"/>
            <a:ext cx="6536650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3.86 average rating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77334" y="3469719"/>
            <a:ext cx="5951696" cy="206097"/>
          </a:xfrm>
          <a:prstGeom prst="roundRect">
            <a:avLst>
              <a:gd name="adj" fmla="val 33618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7334" y="3469719"/>
            <a:ext cx="5713571" cy="206097"/>
          </a:xfrm>
          <a:prstGeom prst="roundRect">
            <a:avLst>
              <a:gd name="adj" fmla="val 33618"/>
            </a:avLst>
          </a:prstGeom>
          <a:solidFill>
            <a:srgbClr val="FFAD94"/>
          </a:solidFill>
          <a:ln/>
        </p:spPr>
      </p:sp>
      <p:sp>
        <p:nvSpPr>
          <p:cNvPr id="11" name="Text 9"/>
          <p:cNvSpPr/>
          <p:nvPr/>
        </p:nvSpPr>
        <p:spPr>
          <a:xfrm>
            <a:off x="6652736" y="3469719"/>
            <a:ext cx="461248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96%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7334" y="3881914"/>
            <a:ext cx="206204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Sandals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7334" y="4304586"/>
            <a:ext cx="6536650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3.84 average rating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7334" y="4980861"/>
            <a:ext cx="5959673" cy="206097"/>
          </a:xfrm>
          <a:prstGeom prst="roundRect">
            <a:avLst>
              <a:gd name="adj" fmla="val 33618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7334" y="4980861"/>
            <a:ext cx="5661660" cy="206097"/>
          </a:xfrm>
          <a:prstGeom prst="roundRect">
            <a:avLst>
              <a:gd name="adj" fmla="val 33618"/>
            </a:avLst>
          </a:prstGeom>
          <a:solidFill>
            <a:srgbClr val="FFAD94"/>
          </a:solidFill>
          <a:ln/>
        </p:spPr>
      </p:sp>
      <p:sp>
        <p:nvSpPr>
          <p:cNvPr id="16" name="Text 14"/>
          <p:cNvSpPr/>
          <p:nvPr/>
        </p:nvSpPr>
        <p:spPr>
          <a:xfrm>
            <a:off x="6660713" y="4980861"/>
            <a:ext cx="453271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95%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7334" y="5393055"/>
            <a:ext cx="206204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Boots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7334" y="5815727"/>
            <a:ext cx="6536650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3.82 average rating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77334" y="6492002"/>
            <a:ext cx="5959673" cy="206097"/>
          </a:xfrm>
          <a:prstGeom prst="roundRect">
            <a:avLst>
              <a:gd name="adj" fmla="val 33618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7334" y="6492002"/>
            <a:ext cx="5661660" cy="206097"/>
          </a:xfrm>
          <a:prstGeom prst="roundRect">
            <a:avLst>
              <a:gd name="adj" fmla="val 33618"/>
            </a:avLst>
          </a:prstGeom>
          <a:solidFill>
            <a:srgbClr val="FFAD94"/>
          </a:solidFill>
          <a:ln/>
        </p:spPr>
      </p:sp>
      <p:sp>
        <p:nvSpPr>
          <p:cNvPr id="21" name="Text 19"/>
          <p:cNvSpPr/>
          <p:nvPr/>
        </p:nvSpPr>
        <p:spPr>
          <a:xfrm>
            <a:off x="6660713" y="6492002"/>
            <a:ext cx="453271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95%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7334" y="6904196"/>
            <a:ext cx="206204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Hat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7334" y="7326868"/>
            <a:ext cx="6536650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3.80 average rating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24036" y="1381482"/>
            <a:ext cx="3282077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Discount-Dependent Items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7524036" y="1958578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AD94"/>
          </a:solidFill>
          <a:ln/>
        </p:spPr>
      </p:sp>
      <p:sp>
        <p:nvSpPr>
          <p:cNvPr id="26" name="Shape 24"/>
          <p:cNvSpPr/>
          <p:nvPr/>
        </p:nvSpPr>
        <p:spPr>
          <a:xfrm>
            <a:off x="7705368" y="1958578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AD94"/>
          </a:solidFill>
          <a:ln/>
        </p:spPr>
      </p:sp>
      <p:sp>
        <p:nvSpPr>
          <p:cNvPr id="27" name="Shape 25"/>
          <p:cNvSpPr/>
          <p:nvPr/>
        </p:nvSpPr>
        <p:spPr>
          <a:xfrm>
            <a:off x="7886700" y="1958578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AD94"/>
          </a:solidFill>
          <a:ln/>
        </p:spPr>
      </p:sp>
      <p:sp>
        <p:nvSpPr>
          <p:cNvPr id="28" name="Shape 26"/>
          <p:cNvSpPr/>
          <p:nvPr/>
        </p:nvSpPr>
        <p:spPr>
          <a:xfrm>
            <a:off x="8068032" y="1958578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49364" y="1958578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37972" y="1937980"/>
            <a:ext cx="470535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50%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24036" y="2329577"/>
            <a:ext cx="206204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Hat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24036" y="2999661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AD94"/>
          </a:solidFill>
          <a:ln/>
        </p:spPr>
      </p:sp>
      <p:sp>
        <p:nvSpPr>
          <p:cNvPr id="33" name="Shape 31"/>
          <p:cNvSpPr/>
          <p:nvPr/>
        </p:nvSpPr>
        <p:spPr>
          <a:xfrm>
            <a:off x="7705368" y="2999661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AD94"/>
          </a:solidFill>
          <a:ln/>
        </p:spPr>
      </p:sp>
      <p:sp>
        <p:nvSpPr>
          <p:cNvPr id="34" name="Shape 32"/>
          <p:cNvSpPr/>
          <p:nvPr/>
        </p:nvSpPr>
        <p:spPr>
          <a:xfrm>
            <a:off x="7886700" y="2999661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68032" y="2999661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49364" y="2999661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37972" y="2979063"/>
            <a:ext cx="611862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49.7%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24036" y="3370659"/>
            <a:ext cx="206204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Sneakers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24036" y="4040743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AD94"/>
          </a:solidFill>
          <a:ln/>
        </p:spPr>
      </p:sp>
      <p:sp>
        <p:nvSpPr>
          <p:cNvPr id="40" name="Shape 38"/>
          <p:cNvSpPr/>
          <p:nvPr/>
        </p:nvSpPr>
        <p:spPr>
          <a:xfrm>
            <a:off x="7705368" y="4040743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AD94"/>
          </a:solidFill>
          <a:ln/>
        </p:spPr>
      </p:sp>
      <p:sp>
        <p:nvSpPr>
          <p:cNvPr id="41" name="Shape 39"/>
          <p:cNvSpPr/>
          <p:nvPr/>
        </p:nvSpPr>
        <p:spPr>
          <a:xfrm>
            <a:off x="7886700" y="4040743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68032" y="4040743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49364" y="4040743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37972" y="4020145"/>
            <a:ext cx="589359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49.1%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524036" y="4411742"/>
            <a:ext cx="206204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Coat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524036" y="5081826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AD94"/>
          </a:solidFill>
          <a:ln/>
        </p:spPr>
      </p:sp>
      <p:sp>
        <p:nvSpPr>
          <p:cNvPr id="47" name="Shape 45"/>
          <p:cNvSpPr/>
          <p:nvPr/>
        </p:nvSpPr>
        <p:spPr>
          <a:xfrm>
            <a:off x="7705368" y="5081826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AD94"/>
          </a:solidFill>
          <a:ln/>
        </p:spPr>
      </p:sp>
      <p:sp>
        <p:nvSpPr>
          <p:cNvPr id="48" name="Shape 46"/>
          <p:cNvSpPr/>
          <p:nvPr/>
        </p:nvSpPr>
        <p:spPr>
          <a:xfrm>
            <a:off x="7886700" y="5081826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68032" y="5081826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49364" y="5081826"/>
            <a:ext cx="164902" cy="164902"/>
          </a:xfrm>
          <a:prstGeom prst="roundRect">
            <a:avLst>
              <a:gd name="adj" fmla="val 277256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37972" y="5061228"/>
            <a:ext cx="652701" cy="206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48.2%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524036" y="5452824"/>
            <a:ext cx="2062043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Sweater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8027" y="497562"/>
            <a:ext cx="7431286" cy="563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Shipping Preferences &amp; Spending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118027" y="1332071"/>
            <a:ext cx="7880747" cy="2719507"/>
          </a:xfrm>
          <a:prstGeom prst="roundRect">
            <a:avLst>
              <a:gd name="adj" fmla="val 2787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06026" y="1520071"/>
            <a:ext cx="541377" cy="541377"/>
          </a:xfrm>
          <a:prstGeom prst="roundRect">
            <a:avLst>
              <a:gd name="adj" fmla="val 16888574"/>
            </a:avLst>
          </a:prstGeom>
          <a:solidFill>
            <a:srgbClr val="FFAD9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4854" y="1668899"/>
            <a:ext cx="243602" cy="2436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6026" y="2241828"/>
            <a:ext cx="2706886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Express Shipping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6306026" y="2688431"/>
            <a:ext cx="6226016" cy="77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$60.48</a:t>
            </a:r>
            <a:endParaRPr lang="en-US" sz="4900" dirty="0"/>
          </a:p>
        </p:txBody>
      </p:sp>
      <p:sp>
        <p:nvSpPr>
          <p:cNvPr id="9" name="Text 5"/>
          <p:cNvSpPr/>
          <p:nvPr/>
        </p:nvSpPr>
        <p:spPr>
          <a:xfrm>
            <a:off x="6306026" y="3574852"/>
            <a:ext cx="7504748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purchase amount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118027" y="4231958"/>
            <a:ext cx="7880747" cy="2719507"/>
          </a:xfrm>
          <a:prstGeom prst="roundRect">
            <a:avLst>
              <a:gd name="adj" fmla="val 2787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06026" y="4419957"/>
            <a:ext cx="541377" cy="541377"/>
          </a:xfrm>
          <a:prstGeom prst="roundRect">
            <a:avLst>
              <a:gd name="adj" fmla="val 16888574"/>
            </a:avLst>
          </a:prstGeom>
          <a:solidFill>
            <a:srgbClr val="FFAD9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4854" y="4568785"/>
            <a:ext cx="243602" cy="2436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6026" y="5141714"/>
            <a:ext cx="2706886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Standard Shipping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6306026" y="5588318"/>
            <a:ext cx="6226016" cy="778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$58.46</a:t>
            </a:r>
            <a:endParaRPr lang="en-US" sz="4900" dirty="0"/>
          </a:p>
        </p:txBody>
      </p:sp>
      <p:sp>
        <p:nvSpPr>
          <p:cNvPr id="15" name="Text 10"/>
          <p:cNvSpPr/>
          <p:nvPr/>
        </p:nvSpPr>
        <p:spPr>
          <a:xfrm>
            <a:off x="6306026" y="6474738"/>
            <a:ext cx="7504748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purchase amount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118027" y="7154466"/>
            <a:ext cx="7880747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 shipping customers spend 3.5% more per transaction, indicating higher purchase intent and urgency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5004"/>
            <a:ext cx="101349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Customer Segmentation Breakdown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147411"/>
            <a:ext cx="2152055" cy="80795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4892" y="2479000"/>
            <a:ext cx="318968" cy="3189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217" y="2374225"/>
            <a:ext cx="12031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New (83)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5187077" y="29684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E5BEB2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012043"/>
            <a:ext cx="4304109" cy="80795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4892" y="3256478"/>
            <a:ext cx="318968" cy="31896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433304" y="3238857"/>
            <a:ext cx="21830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Returning (701)</a:t>
            </a:r>
            <a:endParaRPr lang="en-US" sz="2200" dirty="0"/>
          </a:p>
        </p:txBody>
      </p:sp>
      <p:sp>
        <p:nvSpPr>
          <p:cNvPr id="10" name="Shape 4"/>
          <p:cNvSpPr/>
          <p:nvPr/>
        </p:nvSpPr>
        <p:spPr>
          <a:xfrm>
            <a:off x="6263164" y="3833098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E5BEB2"/>
          </a:solidFill>
          <a:ln/>
        </p:spPr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3876675"/>
            <a:ext cx="6456164" cy="807958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94773" y="4121110"/>
            <a:ext cx="318968" cy="31896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7509272" y="4103489"/>
            <a:ext cx="16902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Loyal (3,116)</a:t>
            </a:r>
            <a:endParaRPr lang="en-US" sz="2200" dirty="0"/>
          </a:p>
        </p:txBody>
      </p:sp>
      <p:sp>
        <p:nvSpPr>
          <p:cNvPr id="14" name="Text 6"/>
          <p:cNvSpPr/>
          <p:nvPr/>
        </p:nvSpPr>
        <p:spPr>
          <a:xfrm>
            <a:off x="793790" y="5166598"/>
            <a:ext cx="30465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Subscription Analysis</a:t>
            </a:r>
            <a:endParaRPr lang="en-US" sz="2200" dirty="0"/>
          </a:p>
        </p:txBody>
      </p:sp>
      <p:sp>
        <p:nvSpPr>
          <p:cNvPr id="15" name="Text 7"/>
          <p:cNvSpPr/>
          <p:nvPr/>
        </p:nvSpPr>
        <p:spPr>
          <a:xfrm>
            <a:off x="793790" y="574774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Subscribers: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1,053 customers averaging $59.49 spend</a:t>
            </a:r>
            <a:endParaRPr lang="en-US" sz="1750" dirty="0"/>
          </a:p>
        </p:txBody>
      </p:sp>
      <p:sp>
        <p:nvSpPr>
          <p:cNvPr id="16" name="Text 8"/>
          <p:cNvSpPr/>
          <p:nvPr/>
        </p:nvSpPr>
        <p:spPr>
          <a:xfrm>
            <a:off x="793790" y="631471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Non-subscribers: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2,847 customers averaging $59.87 spend</a:t>
            </a:r>
            <a:endParaRPr lang="en-US" sz="1750" dirty="0"/>
          </a:p>
        </p:txBody>
      </p:sp>
      <p:sp>
        <p:nvSpPr>
          <p:cNvPr id="17" name="Text 9"/>
          <p:cNvSpPr/>
          <p:nvPr/>
        </p:nvSpPr>
        <p:spPr>
          <a:xfrm>
            <a:off x="7599521" y="5166598"/>
            <a:ext cx="29346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Repeat Buyer Insight</a:t>
            </a:r>
            <a:endParaRPr lang="en-US" sz="2200" dirty="0"/>
          </a:p>
        </p:txBody>
      </p:sp>
      <p:sp>
        <p:nvSpPr>
          <p:cNvPr id="18" name="Text 10"/>
          <p:cNvSpPr/>
          <p:nvPr/>
        </p:nvSpPr>
        <p:spPr>
          <a:xfrm>
            <a:off x="7599521" y="574774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customers with 5+ purchases:</a:t>
            </a:r>
            <a:endParaRPr lang="en-US" sz="1750" dirty="0"/>
          </a:p>
        </p:txBody>
      </p:sp>
      <p:sp>
        <p:nvSpPr>
          <p:cNvPr id="19" name="Text 11"/>
          <p:cNvSpPr/>
          <p:nvPr/>
        </p:nvSpPr>
        <p:spPr>
          <a:xfrm>
            <a:off x="7599521" y="63147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958 are subscribers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7599521" y="67569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2,518 are non-subscribers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6138" y="421243"/>
            <a:ext cx="5816441" cy="47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Revenue by Age Demographics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138" y="1206341"/>
            <a:ext cx="13558123" cy="75924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6138" y="8971121"/>
            <a:ext cx="13558123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 adults lead revenue generation, contributing $62,143 across all categories. Revenue remains relatively balanced across age groups, suggesting broad market appeal.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5024"/>
            <a:ext cx="79119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07431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30743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564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055144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benefits to convert repeat buyers—958 loyal customers already subscribe, but 2,518 don't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307431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230743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2564725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Customer Loyalty Programs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40947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 accelerate movement from Returning to Loyal segment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307431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2307431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2564725"/>
            <a:ext cx="32590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05514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boosts with margin control—some products show 50% discount dependency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990862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310" y="4990862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17" name="Text 15"/>
          <p:cNvSpPr/>
          <p:nvPr/>
        </p:nvSpPr>
        <p:spPr>
          <a:xfrm>
            <a:off x="1142524" y="5248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2524" y="573857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Highlight top-rated items (Gloves, Sandals, Boots) in marketing campaigns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216962" y="4990862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E5BE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6482" y="4990862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FFAD94"/>
          </a:solidFill>
          <a:ln/>
        </p:spPr>
      </p:sp>
      <p:sp>
        <p:nvSpPr>
          <p:cNvPr id="21" name="Text 19"/>
          <p:cNvSpPr/>
          <p:nvPr/>
        </p:nvSpPr>
        <p:spPr>
          <a:xfrm>
            <a:off x="5565696" y="5248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65696" y="573857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high-revenue young adults and express-shipping users for premium offerings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2025-11-01T19:35:38Z</dcterms:created>
  <dcterms:modified xsi:type="dcterms:W3CDTF">2025-11-01T19:35:38Z</dcterms:modified>
</cp:coreProperties>
</file>